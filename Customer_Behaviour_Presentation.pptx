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271"/>
  </p:normalViewPr>
  <p:slideViewPr>
    <p:cSldViewPr snapToGrid="0">
      <p:cViewPr varScale="1">
        <p:scale>
          <a:sx n="121" d="100"/>
          <a:sy n="121" d="100"/>
        </p:scale>
        <p:origin x="2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7C7E6-B618-9441-4DEA-65BD33F52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1330774"/>
            <a:ext cx="8361229" cy="2098226"/>
          </a:xfrm>
        </p:spPr>
        <p:txBody>
          <a:bodyPr>
            <a:normAutofit/>
          </a:bodyPr>
          <a:lstStyle/>
          <a:p>
            <a:r>
              <a:rPr lang="en-ZA" sz="6700" b="1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Customer Shopping Behaviour Analysis</a:t>
            </a:r>
            <a:endParaRPr lang="en-US" sz="67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90DD7-77A6-EB24-262B-DACC66BAB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1148" y="3429000"/>
            <a:ext cx="10041468" cy="2337694"/>
          </a:xfrm>
        </p:spPr>
        <p:txBody>
          <a:bodyPr>
            <a:normAutofit/>
          </a:bodyPr>
          <a:lstStyle/>
          <a:p>
            <a:pPr marL="571500" indent="-57150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3900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Transactional Data Analysis (3,900 Records)</a:t>
            </a:r>
          </a:p>
          <a:p>
            <a:pPr marL="571500" indent="-57150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3900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Tools: Python, PostgreSQL, Power BI</a:t>
            </a:r>
          </a:p>
          <a:p>
            <a:pPr marL="571500" indent="-57150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3900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Objective: Data-driven business insights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endParaRPr lang="en-US" sz="1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72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97F59D-628C-4053-B41F-489D0045F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4902AA-4E7E-4D93-A756-AC2EF9AAF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76"/>
            <a:ext cx="12191998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E0AE5A0-0098-4DC4-82DC-CCE4071B6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71285" y="626654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D28670-6E3D-4F4B-AD22-EFA33BF3C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6632" y="1010265"/>
            <a:ext cx="11115368" cy="5847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1318F-C2FE-E6C0-8BC6-7F11F3F02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281916"/>
            <a:ext cx="9601200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D9A85-262D-053E-E6D5-4CDC7C962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20620"/>
            <a:ext cx="9601200" cy="2946779"/>
          </a:xfrm>
        </p:spPr>
        <p:txBody>
          <a:bodyPr vert="horz" lIns="91440" tIns="45720" rIns="91440" bIns="45720" rtlCol="0">
            <a:normAutofit/>
          </a:bodyPr>
          <a:lstStyle/>
          <a:p>
            <a:pPr marL="567000" indent="-384048" algn="l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Analyze customer purchase behavior</a:t>
            </a:r>
          </a:p>
          <a:p>
            <a:pPr marL="567000" indent="-384048" algn="l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Identify spending and product preference patterns</a:t>
            </a:r>
          </a:p>
          <a:p>
            <a:pPr marL="567000" indent="-384048" algn="l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Segment customers based on purchase history</a:t>
            </a:r>
          </a:p>
          <a:p>
            <a:pPr marL="567000" indent="-384048" algn="l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Evaluate discount and subscription effectiveness</a:t>
            </a:r>
          </a:p>
          <a:p>
            <a:pPr marL="567000" indent="-384048" algn="l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Support strategic business decision-making</a:t>
            </a:r>
          </a:p>
          <a:p>
            <a:pPr indent="-384048" algn="l">
              <a:lnSpc>
                <a:spcPct val="94000"/>
              </a:lnSpc>
              <a:spcAft>
                <a:spcPts val="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447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9C17EF-9F98-4D0C-A74B-FA23A50AD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76EC9-FAFD-D0D5-702E-3CE2EBA9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824" y="685800"/>
            <a:ext cx="6176776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 Overview</a:t>
            </a: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Vibrant multicolour checkered floor design">
            <a:extLst>
              <a:ext uri="{FF2B5EF4-FFF2-40B4-BE49-F238E27FC236}">
                <a16:creationId xmlns:a16="http://schemas.microsoft.com/office/drawing/2014/main" id="{D5FA2C77-5E6E-8A2B-1644-C60C030AE59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l="27363" r="27340"/>
          <a:stretch>
            <a:fillRect/>
          </a:stretch>
        </p:blipFill>
        <p:spPr>
          <a:xfrm>
            <a:off x="-1" y="10"/>
            <a:ext cx="4602146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E34936-B6F6-4892-93D7-48FAA43F3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02145" cy="6858000"/>
          </a:xfrm>
          <a:prstGeom prst="rect">
            <a:avLst/>
          </a:prstGeom>
          <a:gradFill flip="none" rotWithShape="1">
            <a:gsLst>
              <a:gs pos="3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A97DA-0B19-BA99-3B65-FC4410AE7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0607" y="1957387"/>
            <a:ext cx="6176776" cy="3581400"/>
          </a:xfrm>
        </p:spPr>
        <p:txBody>
          <a:bodyPr vert="horz" lIns="91440" tIns="45720" rIns="91440" bIns="45720" rtlCol="0">
            <a:normAutofit/>
          </a:bodyPr>
          <a:lstStyle/>
          <a:p>
            <a:pPr marL="384048" indent="-384048" algn="l">
              <a:lnSpc>
                <a:spcPct val="94000"/>
              </a:lnSpc>
              <a:spcAft>
                <a:spcPts val="200"/>
              </a:spcAft>
              <a:buFont typeface="Wingdings" pitchFamily="2" charset="2"/>
              <a:buChar char="q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Total Records: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3,900 transactions</a:t>
            </a:r>
          </a:p>
          <a:p>
            <a:pPr marL="384048" indent="-384048" algn="l">
              <a:lnSpc>
                <a:spcPct val="94000"/>
              </a:lnSpc>
              <a:spcAft>
                <a:spcPts val="200"/>
              </a:spcAft>
              <a:buFont typeface="Wingdings" pitchFamily="2" charset="2"/>
              <a:buChar char="q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Columns: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18 features</a:t>
            </a:r>
          </a:p>
          <a:p>
            <a:pPr marL="384048" indent="-384048" algn="l">
              <a:lnSpc>
                <a:spcPct val="94000"/>
              </a:lnSpc>
              <a:spcAft>
                <a:spcPts val="200"/>
              </a:spcAft>
              <a:buFont typeface="Wingdings" pitchFamily="2" charset="2"/>
              <a:buChar char="q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Key Data Areas: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08048" lvl="1" indent="-384048" algn="l">
              <a:buFont typeface="Franklin Gothic Book" panose="020B05030201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Customer demographics</a:t>
            </a:r>
          </a:p>
          <a:p>
            <a:pPr marL="708048" lvl="1" indent="-384048" algn="l">
              <a:buFont typeface="Franklin Gothic Book" panose="020B05030201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Purchase details</a:t>
            </a:r>
          </a:p>
          <a:p>
            <a:pPr marL="708048" lvl="1" indent="-384048" algn="l">
              <a:buFont typeface="Franklin Gothic Book" panose="020B05030201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Shopping behavior metrics</a:t>
            </a:r>
          </a:p>
          <a:p>
            <a:pPr marL="384048" indent="-384048" algn="l">
              <a:lnSpc>
                <a:spcPct val="94000"/>
              </a:lnSpc>
              <a:spcAft>
                <a:spcPts val="200"/>
              </a:spcAft>
              <a:buFont typeface="Wingdings" pitchFamily="2" charset="2"/>
              <a:buChar char="q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Missing Values: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37 in Review Rating</a:t>
            </a:r>
          </a:p>
          <a:p>
            <a:pPr marL="384048" indent="-384048" algn="l">
              <a:lnSpc>
                <a:spcPct val="94000"/>
              </a:lnSpc>
              <a:spcAft>
                <a:spcPts val="200"/>
              </a:spcAft>
            </a:pP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F17385-8DC0-437B-80A6-4E608B5AC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9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97F59D-628C-4053-B41F-489D0045F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6E596-B373-786A-66FF-C8D5EEEEA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095" y="791570"/>
            <a:ext cx="4608255" cy="52623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Key Features in the Dataset</a:t>
            </a:r>
            <a:endParaRPr lang="en-US" sz="48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6A400-33AA-06EE-F00E-09D06FA47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4445" y="791570"/>
            <a:ext cx="5504583" cy="52623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60000" indent="-384048" algn="l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b="1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Demographics:</a:t>
            </a:r>
            <a:r>
              <a:rPr lang="en-US" sz="2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Age, Gender, Location, Subscription Status</a:t>
            </a:r>
          </a:p>
          <a:p>
            <a:pPr algn="l">
              <a:lnSpc>
                <a:spcPct val="94000"/>
              </a:lnSpc>
              <a:spcAft>
                <a:spcPts val="200"/>
              </a:spcAft>
            </a:pPr>
            <a:endParaRPr lang="en-US" sz="2800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000" indent="-384048" algn="l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b="1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Purchases:</a:t>
            </a:r>
            <a:r>
              <a:rPr lang="en-US" sz="2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Product, Category, Amount, Season, Size, Color</a:t>
            </a:r>
          </a:p>
          <a:p>
            <a:pPr algn="l">
              <a:lnSpc>
                <a:spcPct val="94000"/>
              </a:lnSpc>
              <a:spcAft>
                <a:spcPts val="200"/>
              </a:spcAft>
            </a:pPr>
            <a:endParaRPr lang="en-US" sz="2800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000" indent="-384048" algn="l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b="1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Behavioral Data:</a:t>
            </a:r>
            <a:r>
              <a:rPr lang="en-US" sz="2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Discounts, Purchase Frequency, Ratings, Shipping Type</a:t>
            </a:r>
          </a:p>
          <a:p>
            <a:pPr indent="-384048" algn="l">
              <a:lnSpc>
                <a:spcPct val="94000"/>
              </a:lnSpc>
              <a:spcAft>
                <a:spcPts val="2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7312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606E62-E0CE-E1B3-B666-5B90B9C30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93105"/>
            <a:ext cx="4671482" cy="202152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89000"/>
              </a:lnSpc>
            </a:pPr>
            <a:r>
              <a:rPr lang="en-US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Preparation &amp; Cleaning (Python)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9653F2-B291-7CD6-3883-064E851CD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0112" y="2857499"/>
            <a:ext cx="4243388" cy="3843339"/>
          </a:xfrm>
        </p:spPr>
        <p:txBody>
          <a:bodyPr vert="horz" lIns="91440" tIns="45720" rIns="91440" bIns="45720" rtlCol="0">
            <a:normAutofit/>
          </a:bodyPr>
          <a:lstStyle/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/>
              <a:t>Loaded and explored data using Pandas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/>
              <a:t>Imputed missing review ratings using category median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/>
              <a:t>Removed redundant promo code column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2800" dirty="0"/>
              <a:t>Ensured data consistency and quality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endParaRPr lang="en-US" dirty="0"/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70EF6FF5-0B28-9A78-1A24-D4A8C785F3A4}"/>
              </a:ext>
            </a:extLst>
          </p:cNvPr>
          <p:cNvPicPr>
            <a:picLocks noGrp="1"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1467" y="1436055"/>
            <a:ext cx="6517065" cy="36658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6318D4-7886-0C81-09DD-73FE8ACB1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31467" y="1436055"/>
            <a:ext cx="6517065" cy="366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5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ABCA2-BAE1-552B-0FAD-67298D2B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67" y="685800"/>
            <a:ext cx="3656419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9000"/>
              </a:lnSpc>
            </a:pPr>
            <a:r>
              <a:rPr lang="en-US" sz="4400" b="0" i="0" u="none" strike="noStrike">
                <a:effectLst/>
              </a:rPr>
              <a:t>Feature Engineering</a:t>
            </a:r>
            <a:endParaRPr lang="en-US" sz="4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A95FE1-CF02-09B2-1BC5-BBA93C67DE5A}"/>
              </a:ext>
            </a:extLst>
          </p:cNvPr>
          <p:cNvPicPr>
            <a:picLocks noGrp="1"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851" y="1436056"/>
            <a:ext cx="6517065" cy="366584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90451-0893-2F84-8F02-2C79A8F06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60667" y="2286000"/>
            <a:ext cx="3656419" cy="3581400"/>
          </a:xfrm>
        </p:spPr>
        <p:txBody>
          <a:bodyPr vert="horz" lIns="91440" tIns="45720" rIns="91440" bIns="45720" rtlCol="0">
            <a:normAutofit/>
          </a:bodyPr>
          <a:lstStyle/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None/>
            </a:pPr>
            <a:r>
              <a:rPr lang="en-US"/>
              <a:t>Created </a:t>
            </a:r>
            <a:r>
              <a:rPr lang="en-US" b="1"/>
              <a:t>Age Groups</a:t>
            </a:r>
            <a:r>
              <a:rPr lang="en-US"/>
              <a:t> for demographic analysis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None/>
            </a:pPr>
            <a:r>
              <a:rPr lang="en-US"/>
              <a:t>Engineered </a:t>
            </a:r>
            <a:r>
              <a:rPr lang="en-US" b="1"/>
              <a:t>Purchase Frequency (days)</a:t>
            </a:r>
            <a:endParaRPr lang="en-US"/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None/>
            </a:pPr>
            <a:r>
              <a:rPr lang="en-US"/>
              <a:t>Segmented customers as: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/>
              <a:t>New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/>
              <a:t>Returning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/>
              <a:t>Loyal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r>
              <a:rPr lang="en-US"/>
              <a:t>Prepared data for SQL-based business analysis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1F59D2-8EDA-2C2E-9A8C-969D18617D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9892" y="1436055"/>
            <a:ext cx="3697672" cy="3665850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AB5703D1-4709-CAAC-FFF3-D17E104EF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564" y="1436054"/>
            <a:ext cx="2819394" cy="366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70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73C468-D875-4A8E-A540-E43BF8232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C2ACD-6093-1EC9-9B52-E10692C3C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4594" y="191116"/>
            <a:ext cx="5447406" cy="2794972"/>
          </a:xfrm>
        </p:spPr>
        <p:txBody>
          <a:bodyPr>
            <a:normAutofit/>
          </a:bodyPr>
          <a:lstStyle/>
          <a:p>
            <a:pPr algn="l"/>
            <a:r>
              <a:rPr lang="en-ZA" sz="61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SQL Business Analysis (PostgreSQL)</a:t>
            </a:r>
            <a:endParaRPr lang="en-US" sz="6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C0AEA-CACC-69C5-5F34-E26DE29E8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1647" y="3127387"/>
            <a:ext cx="5041278" cy="329771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2000"/>
              </a:lnSpc>
              <a:spcAft>
                <a:spcPts val="600"/>
              </a:spcAft>
              <a:buNone/>
            </a:pPr>
            <a:r>
              <a:rPr lang="en-ZA" sz="2800" b="1" i="0" u="sng" strike="noStrike" dirty="0">
                <a:effectLst/>
              </a:rPr>
              <a:t>Key insights derived from SQL queries:</a:t>
            </a:r>
            <a:br>
              <a:rPr lang="en-ZA" sz="2800" b="1" i="0" u="sng" strike="noStrike" dirty="0">
                <a:effectLst/>
              </a:rPr>
            </a:br>
            <a:br>
              <a:rPr lang="en-ZA" sz="1300" b="0" i="0" u="none" strike="noStrike" dirty="0">
                <a:effectLst/>
              </a:rPr>
            </a:br>
            <a:endParaRPr lang="en-ZA" sz="1300" b="0" i="0" u="none" strike="noStrike" dirty="0">
              <a:effectLst/>
            </a:endParaRPr>
          </a:p>
          <a:p>
            <a:pPr marL="285750" indent="-28575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2800" b="0" i="0" u="none" strike="noStrike" dirty="0">
                <a:effectLst/>
              </a:rPr>
              <a:t>Revenue comparison by gender</a:t>
            </a:r>
          </a:p>
          <a:p>
            <a:pPr marL="285750" indent="-28575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2800" b="0" i="0" u="none" strike="noStrike" dirty="0">
                <a:effectLst/>
              </a:rPr>
              <a:t>Subscriber vs non-subscriber spending</a:t>
            </a:r>
          </a:p>
          <a:p>
            <a:pPr marL="285750" indent="-28575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2800" b="0" i="0" u="none" strike="noStrike" dirty="0">
                <a:effectLst/>
              </a:rPr>
              <a:t>Discount usage vs high spending</a:t>
            </a:r>
          </a:p>
          <a:p>
            <a:pPr marL="285750" indent="-28575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2800" b="0" i="0" u="none" strike="noStrike" dirty="0">
                <a:effectLst/>
              </a:rPr>
              <a:t>Shipping type impact on purchase value</a:t>
            </a:r>
          </a:p>
          <a:p>
            <a:pPr marL="285750" indent="-28575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2800" b="0" i="0" u="none" strike="noStrike" dirty="0">
                <a:effectLst/>
              </a:rPr>
              <a:t>Revenue contribution by age group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endParaRPr lang="en-US" sz="1300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B4734F2F-19FC-4D35-9BDE-5CEAD57D9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027878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D97A8A26-FD96-4968-A34A-727382AC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B380B45E-F254-34D9-15F7-8B52047B8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0DA474-7C64-075E-99B0-C7C971D6B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345" y="843743"/>
            <a:ext cx="6819067" cy="1929532"/>
          </a:xfrm>
        </p:spPr>
        <p:txBody>
          <a:bodyPr>
            <a:normAutofit fontScale="90000"/>
          </a:bodyPr>
          <a:lstStyle/>
          <a:p>
            <a:pPr algn="l"/>
            <a:r>
              <a:rPr lang="en-ZA" sz="6600" b="0" i="0" u="none" strike="noStrike" dirty="0">
                <a:effectLst/>
                <a:latin typeface="-webkit-standard"/>
              </a:rPr>
              <a:t>Product &amp; Customer Insights</a:t>
            </a:r>
            <a:endParaRPr lang="en-US" sz="6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7C59DA-30BD-DF8B-B11D-BE586BA18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4104" y="2908579"/>
            <a:ext cx="6924171" cy="2946694"/>
          </a:xfrm>
        </p:spPr>
        <p:txBody>
          <a:bodyPr>
            <a:normAutofit fontScale="25000" lnSpcReduction="20000"/>
          </a:bodyPr>
          <a:lstStyle/>
          <a:p>
            <a:pPr marL="457200" indent="-45720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11200" dirty="0">
                <a:latin typeface="Calibri" panose="020F0502020204030204" pitchFamily="34" charset="0"/>
                <a:cs typeface="Calibri" panose="020F0502020204030204" pitchFamily="34" charset="0"/>
              </a:rPr>
              <a:t>Top 5 products by average review rating</a:t>
            </a:r>
          </a:p>
          <a:p>
            <a:pPr marL="457200" indent="-45720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11200" dirty="0">
                <a:latin typeface="Calibri" panose="020F0502020204030204" pitchFamily="34" charset="0"/>
                <a:cs typeface="Calibri" panose="020F0502020204030204" pitchFamily="34" charset="0"/>
              </a:rPr>
              <a:t>Top 3 products per category</a:t>
            </a:r>
          </a:p>
          <a:p>
            <a:pPr marL="457200" indent="-45720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11200" dirty="0">
                <a:latin typeface="Calibri" panose="020F0502020204030204" pitchFamily="34" charset="0"/>
                <a:cs typeface="Calibri" panose="020F0502020204030204" pitchFamily="34" charset="0"/>
              </a:rPr>
              <a:t>Products highly dependent on discounts</a:t>
            </a:r>
          </a:p>
          <a:p>
            <a:pPr marL="457200" indent="-45720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11200" dirty="0">
                <a:latin typeface="Calibri" panose="020F0502020204030204" pitchFamily="34" charset="0"/>
                <a:cs typeface="Calibri" panose="020F0502020204030204" pitchFamily="34" charset="0"/>
              </a:rPr>
              <a:t>Loyal customers more likely to subscribe</a:t>
            </a:r>
          </a:p>
          <a:p>
            <a:pPr marL="457200" indent="-457200" algn="l">
              <a:lnSpc>
                <a:spcPct val="102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ZA" sz="11200" dirty="0">
                <a:latin typeface="Calibri" panose="020F0502020204030204" pitchFamily="34" charset="0"/>
                <a:cs typeface="Calibri" panose="020F0502020204030204" pitchFamily="34" charset="0"/>
              </a:rPr>
              <a:t>High-value customers still purchase with discounts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endParaRPr lang="en-US" sz="700" dirty="0"/>
          </a:p>
        </p:txBody>
      </p:sp>
      <p:pic>
        <p:nvPicPr>
          <p:cNvPr id="9" name="Graphic 8" descr="Bar chart">
            <a:extLst>
              <a:ext uri="{FF2B5EF4-FFF2-40B4-BE49-F238E27FC236}">
                <a16:creationId xmlns:a16="http://schemas.microsoft.com/office/drawing/2014/main" id="{07070A08-0677-EBFC-9276-4A6A77B5B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8166" y="1338739"/>
            <a:ext cx="3182488" cy="402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78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7B4D86-39E0-828A-68E7-DAF5A88E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1573924"/>
          </a:xfrm>
        </p:spPr>
        <p:txBody>
          <a:bodyPr/>
          <a:lstStyle/>
          <a:p>
            <a:r>
              <a:rPr lang="en-ZA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Power BI Dashboard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Content Placeholder 9" descr="A screenshot of a customer behaviour dashboard&#10;&#10;AI-generated content may be incorrect.">
            <a:extLst>
              <a:ext uri="{FF2B5EF4-FFF2-40B4-BE49-F238E27FC236}">
                <a16:creationId xmlns:a16="http://schemas.microsoft.com/office/drawing/2014/main" id="{607A0F73-4C7E-3C77-D38E-E9B8D9613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125"/>
          <a:stretch/>
        </p:blipFill>
        <p:spPr>
          <a:xfrm>
            <a:off x="5743575" y="685800"/>
            <a:ext cx="6352781" cy="531495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A0D0A6-2EDE-2D26-4497-81400B624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644" y="2070539"/>
            <a:ext cx="5212080" cy="4487916"/>
          </a:xfrm>
        </p:spPr>
        <p:txBody>
          <a:bodyPr>
            <a:normAutofit lnSpcReduction="10000"/>
          </a:bodyPr>
          <a:lstStyle/>
          <a:p>
            <a:pPr algn="l">
              <a:buNone/>
            </a:pPr>
            <a:endParaRPr lang="en-ZA" i="0" strike="noStrike" dirty="0">
              <a:solidFill>
                <a:srgbClr val="000000"/>
              </a:solidFill>
              <a:effectLst/>
            </a:endParaRPr>
          </a:p>
          <a:p>
            <a:pPr marL="457200" indent="-457200" algn="l">
              <a:buFont typeface="Wingdings" pitchFamily="2" charset="2"/>
              <a:buChar char="§"/>
            </a:pPr>
            <a:r>
              <a:rPr lang="en-ZA" sz="2800" i="0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Interactive visualizations for: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ZA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Revenue trends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ZA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Customer segmentation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ZA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Product performance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ZA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Subscription impact</a:t>
            </a:r>
            <a:br>
              <a:rPr lang="en-ZA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ZA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Wingdings" pitchFamily="2" charset="2"/>
              <a:buChar char="§"/>
            </a:pPr>
            <a:r>
              <a:rPr lang="en-ZA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Enables real-time filtering by demographics and behaviour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427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204626-2220-4678-A939-FD94EA7B5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870135-E30B-C0C4-3195-4A8716A62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" y="292934"/>
            <a:ext cx="5958837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Business Recommendations</a:t>
            </a:r>
            <a:endParaRPr 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0C5C354-77F6-C98B-2097-F347EDDDD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50" y="1907422"/>
            <a:ext cx="7212211" cy="3821866"/>
          </a:xfrm>
        </p:spPr>
        <p:txBody>
          <a:bodyPr vert="horz" lIns="91440" tIns="45720" rIns="91440" bIns="45720" rtlCol="0">
            <a:noAutofit/>
          </a:bodyPr>
          <a:lstStyle/>
          <a:p>
            <a:pPr marL="457200" indent="-457200" algn="l">
              <a:lnSpc>
                <a:spcPct val="94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Promote subscription-only benefits to boost sign-ups</a:t>
            </a:r>
          </a:p>
          <a:p>
            <a:pPr marL="457200" indent="-457200" algn="l">
              <a:lnSpc>
                <a:spcPct val="94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Strengthen loyalty programs to encourage repeat purchases</a:t>
            </a:r>
          </a:p>
          <a:p>
            <a:pPr marL="457200" indent="-457200" algn="l">
              <a:lnSpc>
                <a:spcPct val="94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Optimize discount strategies for profitability</a:t>
            </a:r>
          </a:p>
          <a:p>
            <a:pPr marL="457200" indent="-457200" algn="l">
              <a:lnSpc>
                <a:spcPct val="94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Highlight top-rated and top-selling products</a:t>
            </a:r>
          </a:p>
          <a:p>
            <a:pPr marL="457200" indent="-457200" algn="l">
              <a:lnSpc>
                <a:spcPct val="94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 targeted marketing for high-revenue age groups and express shipping users</a:t>
            </a:r>
          </a:p>
          <a:p>
            <a:pPr marL="384048" indent="-384048" algn="l">
              <a:lnSpc>
                <a:spcPct val="94000"/>
              </a:lnSpc>
              <a:spcAft>
                <a:spcPts val="200"/>
              </a:spcAft>
            </a:pPr>
            <a:endParaRPr lang="en-US" sz="2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97D8A6-1C5A-42B6-AE78-F3D0F9BDF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Graphic 9" descr="Upward trend">
            <a:extLst>
              <a:ext uri="{FF2B5EF4-FFF2-40B4-BE49-F238E27FC236}">
                <a16:creationId xmlns:a16="http://schemas.microsoft.com/office/drawing/2014/main" id="{87A241D9-6167-E157-B3C5-10EAA5EDE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2340" y="1778834"/>
            <a:ext cx="3299579" cy="329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4776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260</TotalTime>
  <Words>308</Words>
  <Application>Microsoft Macintosh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-webkit-standard</vt:lpstr>
      <vt:lpstr>Arial</vt:lpstr>
      <vt:lpstr>Calibri</vt:lpstr>
      <vt:lpstr>Franklin Gothic Book</vt:lpstr>
      <vt:lpstr>Wingdings</vt:lpstr>
      <vt:lpstr>Crop</vt:lpstr>
      <vt:lpstr>Customer Shopping Behaviour Analysis</vt:lpstr>
      <vt:lpstr>Project Objectives</vt:lpstr>
      <vt:lpstr>Dataset Overview</vt:lpstr>
      <vt:lpstr>Key Features in the Dataset</vt:lpstr>
      <vt:lpstr>Data Preparation &amp; Cleaning (Python)</vt:lpstr>
      <vt:lpstr>Feature Engineering</vt:lpstr>
      <vt:lpstr>SQL Business Analysis (PostgreSQL)</vt:lpstr>
      <vt:lpstr>Product &amp; Customer Insights</vt:lpstr>
      <vt:lpstr>Power BI Dashboard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Kegoikantse Nthathe</dc:creator>
  <cp:lastModifiedBy>Kegoikantse Nthathe</cp:lastModifiedBy>
  <cp:revision>1</cp:revision>
  <dcterms:created xsi:type="dcterms:W3CDTF">2025-12-28T17:10:37Z</dcterms:created>
  <dcterms:modified xsi:type="dcterms:W3CDTF">2025-12-28T21:30:55Z</dcterms:modified>
</cp:coreProperties>
</file>